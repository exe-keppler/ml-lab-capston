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Calibri"/>
              </a:rPr>
              <a:t>Laboratorio IDS-ML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0">
                <a:solidFill>
                  <a:srgbClr val="C7D2FE"/>
                </a:solidFill>
                <a:latin typeface="Calibri"/>
              </a:rPr>
              <a:t>Detección de intrusiones con Machine Learning + Reglas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931920"/>
            <a:ext cx="2286000" cy="54864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6984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0">
                <a:solidFill>
                  <a:srgbClr val="E5E7EB"/>
                </a:solidFill>
                <a:latin typeface="Calibri"/>
              </a:rPr>
              <a:t>Maestría en IA Aplicada · UDLA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C7D2FE"/>
                </a:solidFill>
                <a:latin typeface="Consolas"/>
              </a:rPr>
              <a:t>github.com/exe-keppler/ML-Lab-Capston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¿Qué problema resolvemos?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>
                <a:solidFill>
                  <a:srgbClr val="4B5563"/>
                </a:solidFill>
                <a:latin typeface="Calibri"/>
              </a:rPr>
              <a:t>Una red empresarial promedio genera millones de flujos por día. Un analista SOC no puede revisar todo manualmente.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11155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1E40AF"/>
                </a:solidFill>
                <a:latin typeface="Calibri"/>
              </a:rPr>
              <a:t>El flujo del problema: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651760"/>
            <a:ext cx="11155680" cy="1097280"/>
          </a:xfrm>
          <a:prstGeom prst="rect">
            <a:avLst/>
          </a:prstGeom>
          <a:solidFill>
            <a:srgbClr val="F3F4F6"/>
          </a:solidFill>
          <a:ln w="63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l"/>
            <a:r>
              <a:rPr sz="1600">
                <a:solidFill>
                  <a:srgbClr val="111827"/>
                </a:solidFill>
                <a:latin typeface="Consolas"/>
              </a:rPr>
              <a:t>Tráfico  →  Detector  →  ¿Alarma?  →  SOC Analyst</a:t>
            </a:r>
          </a:p>
          <a:p>
            <a:pPr algn="l"/>
            <a:r>
              <a:rPr sz="1600">
                <a:solidFill>
                  <a:srgbClr val="111827"/>
                </a:solidFill>
                <a:latin typeface="Consolas"/>
              </a:rPr>
              <a:t>                  ↑</a:t>
            </a:r>
          </a:p>
          <a:p>
            <a:pPr algn="l"/>
            <a:r>
              <a:rPr sz="1600">
                <a:solidFill>
                  <a:srgbClr val="111827"/>
                </a:solidFill>
                <a:latin typeface="Consolas"/>
              </a:rPr>
              <a:t>            "Es ataque"  /  "Es benigno"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0"/>
            <a:ext cx="11155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1E40AF"/>
                </a:solidFill>
                <a:latin typeface="Calibri"/>
              </a:rPr>
              <a:t>Dos enfoques tradicionales: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2000"/>
            <a:ext cx="11155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  <a:latin typeface="Calibri"/>
              </a:rPr>
              <a:t>•  Reglas (Suricata, Snort): firmas conocidas. Bajo FP, no detecta novedades.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  <a:latin typeface="Calibri"/>
              </a:rPr>
              <a:t>•  ML: aprende patrones. Detecta variantes, pero falsos positivos y vulnerable a adversarial.</a:t>
            </a:r>
          </a:p>
          <a:p>
            <a:pPr lvl="1" algn="l">
              <a:spcAft>
                <a:spcPts val="800"/>
              </a:spcAft>
            </a:pPr>
            <a:r>
              <a:rPr sz="1600">
                <a:solidFill>
                  <a:srgbClr val="111827"/>
                </a:solidFill>
                <a:latin typeface="Calibri"/>
              </a:rPr>
              <a:t>○  El lab combina ambos para responder: ¿son redundantes o complementarios?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Laboratorio IDS-ML · UDLA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Calibri"/>
              </a:rPr>
              <a:t>2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Stack del laboratorio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155680" cy="4114800"/>
          </a:xfrm>
          <a:prstGeom prst="rect">
            <a:avLst/>
          </a:prstGeom>
          <a:solidFill>
            <a:srgbClr val="F3F4F6"/>
          </a:solidFill>
          <a:ln w="63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l"/>
            <a:r>
              <a:rPr sz="1200">
                <a:solidFill>
                  <a:srgbClr val="111827"/>
                </a:solidFill>
                <a:latin typeface="Consolas"/>
              </a:rPr>
              <a:t>                       ┌─────────────┐</a:t>
            </a:r>
          </a:p>
          <a:p>
            <a:pPr algn="l"/>
            <a:r>
              <a:rPr sz="1200">
                <a:solidFill>
                  <a:srgbClr val="111827"/>
                </a:solidFill>
                <a:latin typeface="Consolas"/>
              </a:rPr>
              <a:t>   tráfico               │   Suricata  │ ─── eve.json ──┐</a:t>
            </a:r>
          </a:p>
          <a:p>
            <a:pPr algn="l"/>
            <a:r>
              <a:rPr sz="1200">
                <a:solidFill>
                  <a:srgbClr val="111827"/>
                </a:solidFill>
                <a:latin typeface="Consolas"/>
              </a:rPr>
              <a:t>   (DVWA target)  ──────►│   ET-Open   │                │</a:t>
            </a:r>
          </a:p>
          <a:p>
            <a:pPr algn="l"/>
            <a:r>
              <a:rPr sz="1200">
                <a:solidFill>
                  <a:srgbClr val="111827"/>
                </a:solidFill>
                <a:latin typeface="Consolas"/>
              </a:rPr>
              <a:t>                         │    ~50k     │                ▼</a:t>
            </a:r>
          </a:p>
          <a:p>
            <a:pPr algn="l"/>
            <a:r>
              <a:rPr sz="1200">
                <a:solidFill>
                  <a:srgbClr val="111827"/>
                </a:solidFill>
                <a:latin typeface="Consolas"/>
              </a:rPr>
              <a:t>                         └─────────────┘            ┌──────┐</a:t>
            </a:r>
          </a:p>
          <a:p>
            <a:pPr algn="l"/>
            <a:r>
              <a:rPr sz="1200">
                <a:solidFill>
                  <a:srgbClr val="111827"/>
                </a:solidFill>
                <a:latin typeface="Consolas"/>
              </a:rPr>
              <a:t>                                                    │ Loki │</a:t>
            </a:r>
          </a:p>
          <a:p>
            <a:pPr algn="l"/>
            <a:r>
              <a:rPr sz="1200">
                <a:solidFill>
                  <a:srgbClr val="111827"/>
                </a:solidFill>
                <a:latin typeface="Consolas"/>
              </a:rPr>
              <a:t>                         ┌─────────────┐            └──┬───┘</a:t>
            </a:r>
          </a:p>
          <a:p>
            <a:pPr algn="l"/>
            <a:r>
              <a:rPr sz="1200">
                <a:solidFill>
                  <a:srgbClr val="111827"/>
                </a:solidFill>
                <a:latin typeface="Consolas"/>
              </a:rPr>
              <a:t>                         │   Sensor    │               │</a:t>
            </a:r>
          </a:p>
          <a:p>
            <a:pPr algn="l"/>
            <a:r>
              <a:rPr sz="1200">
                <a:solidFill>
                  <a:srgbClr val="111827"/>
                </a:solidFill>
                <a:latin typeface="Consolas"/>
              </a:rPr>
              <a:t>                         │ (CICFlow)   │ ──┐           ▼</a:t>
            </a:r>
          </a:p>
          <a:p>
            <a:pPr algn="l"/>
            <a:r>
              <a:rPr sz="1200">
                <a:solidFill>
                  <a:srgbClr val="111827"/>
                </a:solidFill>
                <a:latin typeface="Consolas"/>
              </a:rPr>
              <a:t>                         └──────┬──────┘   │     ┌──────────┐</a:t>
            </a:r>
          </a:p>
          <a:p>
            <a:pPr algn="l"/>
            <a:r>
              <a:rPr sz="1200">
                <a:solidFill>
                  <a:srgbClr val="111827"/>
                </a:solidFill>
                <a:latin typeface="Consolas"/>
              </a:rPr>
              <a:t>                                │          │     │ Grafana  │</a:t>
            </a:r>
          </a:p>
          <a:p>
            <a:pPr algn="l"/>
            <a:r>
              <a:rPr sz="1200">
                <a:solidFill>
                  <a:srgbClr val="111827"/>
                </a:solidFill>
                <a:latin typeface="Consolas"/>
              </a:rPr>
              <a:t>                                ▼          │     │  5 dash  │</a:t>
            </a:r>
          </a:p>
          <a:p>
            <a:pPr algn="l"/>
            <a:r>
              <a:rPr sz="1200">
                <a:solidFill>
                  <a:srgbClr val="111827"/>
                </a:solidFill>
                <a:latin typeface="Consolas"/>
              </a:rPr>
              <a:t>                         ┌─────────────┐   │     └──────────┘</a:t>
            </a:r>
          </a:p>
          <a:p>
            <a:pPr algn="l"/>
            <a:r>
              <a:rPr sz="1200">
                <a:solidFill>
                  <a:srgbClr val="111827"/>
                </a:solidFill>
                <a:latin typeface="Consolas"/>
              </a:rPr>
              <a:t>                         │   ML API    │   │</a:t>
            </a:r>
          </a:p>
          <a:p>
            <a:pPr algn="l"/>
            <a:r>
              <a:rPr sz="1200">
                <a:solidFill>
                  <a:srgbClr val="111827"/>
                </a:solidFill>
                <a:latin typeface="Consolas"/>
              </a:rPr>
              <a:t>                         │ RF + XGB v2 │ ◄─┘</a:t>
            </a:r>
          </a:p>
          <a:p>
            <a:pPr algn="l"/>
            <a:r>
              <a:rPr sz="1200">
                <a:solidFill>
                  <a:srgbClr val="111827"/>
                </a:solidFill>
                <a:latin typeface="Consolas"/>
              </a:rPr>
              <a:t>                         │   + SHAP    │</a:t>
            </a:r>
          </a:p>
          <a:p>
            <a:pPr algn="l"/>
            <a:r>
              <a:rPr sz="1200">
                <a:solidFill>
                  <a:srgbClr val="111827"/>
                </a:solidFill>
                <a:latin typeface="Consolas"/>
              </a:rPr>
              <a:t>                         └──────┬──────┘</a:t>
            </a:r>
          </a:p>
          <a:p>
            <a:pPr algn="l"/>
            <a:r>
              <a:rPr sz="1200">
                <a:solidFill>
                  <a:srgbClr val="111827"/>
                </a:solidFill>
                <a:latin typeface="Consolas"/>
              </a:rPr>
              <a:t>                                │</a:t>
            </a:r>
          </a:p>
          <a:p>
            <a:pPr algn="l"/>
            <a:r>
              <a:rPr sz="1200">
                <a:solidFill>
                  <a:srgbClr val="111827"/>
                </a:solidFill>
                <a:latin typeface="Consolas"/>
              </a:rPr>
              <a:t>                                ▼</a:t>
            </a:r>
          </a:p>
          <a:p>
            <a:pPr algn="l"/>
            <a:r>
              <a:rPr sz="1200">
                <a:solidFill>
                  <a:srgbClr val="111827"/>
                </a:solidFill>
                <a:latin typeface="Consolas"/>
              </a:rPr>
              <a:t>                         sensor_predictions.jsonl</a:t>
            </a:r>
          </a:p>
          <a:p>
            <a:pPr algn="l"/>
            <a:r>
              <a:rPr sz="1200">
                <a:solidFill>
                  <a:srgbClr val="111827"/>
                </a:solidFill>
                <a:latin typeface="Consolas"/>
              </a:rPr>
              <a:t>                         (model: rf | xgb)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94960"/>
            <a:ext cx="11155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1E40AF"/>
                </a:solidFill>
                <a:latin typeface="Calibri"/>
              </a:rPr>
              <a:t>11 contenedores Docker. Deploy: git clone + ./setup.sh = 47 segundos.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Laboratorio IDS-ML · UDLA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Calibri"/>
              </a:rP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¿Por qué ML para detección de intrusiones?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303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Calibri"/>
              </a:rPr>
              <a:t>Reglas (Suricata)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111827"/>
                </a:solidFill>
                <a:latin typeface="Calibri"/>
              </a:rPr>
              <a:t>•  Determinísticas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11827"/>
                </a:solidFill>
                <a:latin typeface="Calibri"/>
              </a:rPr>
              <a:t>•  Baja FP en firmas conocidas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11827"/>
                </a:solidFill>
                <a:latin typeface="Calibri"/>
              </a:rPr>
              <a:t>•  No detecta lo que no está en su base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11827"/>
                </a:solidFill>
                <a:latin typeface="Calibri"/>
              </a:rPr>
              <a:t>•  Mantenimiento manual de reglas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303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Calibri"/>
              </a:rPr>
              <a:t>ML (RF / XGBoost)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111827"/>
                </a:solidFill>
                <a:latin typeface="Calibri"/>
              </a:rPr>
              <a:t>•  Aprende patrones generales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11827"/>
                </a:solidFill>
                <a:latin typeface="Calibri"/>
              </a:rPr>
              <a:t>•  Detecta variantes de ataques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11827"/>
                </a:solidFill>
                <a:latin typeface="Calibri"/>
              </a:rPr>
              <a:t>•  Escala con más datos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11827"/>
                </a:solidFill>
                <a:latin typeface="Calibri"/>
              </a:rPr>
              <a:t>•  Falsos positivos en tráfico atípico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11827"/>
                </a:solidFill>
                <a:latin typeface="Calibri"/>
              </a:rPr>
              <a:t>•  Vulnerable a evasión adversarial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212080"/>
            <a:ext cx="111556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200" b="1">
                <a:solidFill>
                  <a:srgbClr val="CA8A04"/>
                </a:solidFill>
                <a:latin typeface="Calibri"/>
              </a:rPr>
              <a:t>Hipótesis del lab: son COMPLEMENTARIOS, no sustitutos.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Laboratorio IDS-ML · UDLA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Calibri"/>
              </a:rP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600" b="0">
                <a:solidFill>
                  <a:srgbClr val="C7D2FE"/>
                </a:solidFill>
                <a:latin typeface="Calibri"/>
              </a:rPr>
              <a:t>Sección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5600" b="1">
                <a:solidFill>
                  <a:srgbClr val="FFFFFF"/>
                </a:solidFill>
                <a:latin typeface="Calibri"/>
              </a:rPr>
              <a:t>Dataset y pipeline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93776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>
                <a:solidFill>
                  <a:srgbClr val="C7D2FE"/>
                </a:solidFill>
                <a:latin typeface="Calibri"/>
              </a:rPr>
              <a:t>8 notebooks reproducibles · 2.3M flujos · 47 features auditadas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CICIDS2017 — el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155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4B5563"/>
                </a:solidFill>
                <a:latin typeface="Calibri"/>
              </a:rPr>
              <a:t>University of New Brunswick (UNB). Estándar para benchmarking de IDS.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111556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587828">
                <a:tc>
                  <a:txBody>
                    <a:bodyPr lIns="73152" rIns="73152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Categoría (6 finales)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Subtipos originales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% del total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87828">
                <a:tc>
                  <a:txBody>
                    <a:bodyPr lIns="73152" rIns="73152"/>
                    <a:lstStyle/>
                    <a:p>
                      <a:pPr algn="l"/>
                      <a:r>
                        <a:rPr sz="1400" b="1">
                          <a:solidFill>
                            <a:srgbClr val="111827"/>
                          </a:solidFill>
                          <a:latin typeface="Calibri"/>
                        </a:rPr>
                        <a:t>Benign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tráfico legítimo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85.5%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 lIns="73152" rIns="73152"/>
                    <a:lstStyle/>
                    <a:p>
                      <a:pPr algn="l"/>
                      <a:r>
                        <a:rPr sz="1400" b="1">
                          <a:solidFill>
                            <a:srgbClr val="111827"/>
                          </a:solidFill>
                          <a:latin typeface="Calibri"/>
                        </a:rPr>
                        <a:t>DoS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Hulk, GoldenEye, Slowloris, Slowhttptest, Heartbleed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8.4%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 lIns="73152" rIns="73152"/>
                    <a:lstStyle/>
                    <a:p>
                      <a:pPr algn="l"/>
                      <a:r>
                        <a:rPr sz="1400" b="1">
                          <a:solidFill>
                            <a:srgbClr val="111827"/>
                          </a:solidFill>
                          <a:latin typeface="Calibri"/>
                        </a:rPr>
                        <a:t>DDoS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flood TCP/UDP volumétrico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5.5%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 lIns="73152" rIns="73152"/>
                    <a:lstStyle/>
                    <a:p>
                      <a:pPr algn="l"/>
                      <a:r>
                        <a:rPr sz="1400" b="1">
                          <a:solidFill>
                            <a:srgbClr val="111827"/>
                          </a:solidFill>
                          <a:latin typeface="Calibri"/>
                        </a:rPr>
                        <a:t>Brute Force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FTP-Patator, SSH-Patator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0.4%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 lIns="73152" rIns="73152"/>
                    <a:lstStyle/>
                    <a:p>
                      <a:pPr algn="l"/>
                      <a:r>
                        <a:rPr sz="1400" b="1">
                          <a:solidFill>
                            <a:srgbClr val="111827"/>
                          </a:solidFill>
                          <a:latin typeface="Calibri"/>
                        </a:rPr>
                        <a:t>Reconnaissance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PortScan, Bot, Infiltration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0.15%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 lIns="73152" rIns="73152"/>
                    <a:lstStyle/>
                    <a:p>
                      <a:pPr algn="l"/>
                      <a:r>
                        <a:rPr sz="1400" b="1">
                          <a:solidFill>
                            <a:srgbClr val="111827"/>
                          </a:solidFill>
                          <a:latin typeface="Calibri"/>
                        </a:rPr>
                        <a:t>Web Attack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XSS, SQLi, Brute Force web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0.09%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943600"/>
            <a:ext cx="11155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>
                <a:solidFill>
                  <a:srgbClr val="4B5563"/>
                </a:solidFill>
                <a:latin typeface="Calibri"/>
              </a:rPr>
              <a:t>5 días de tráfico · 2.3M flujos · 78 features crudas (CICFlowMeter)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Laboratorio IDS-ML · UDLA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Calibri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Notebook 01 — EDA: lo que el dataset esconde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11556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5577840"/>
              </a:tblGrid>
              <a:tr h="685800">
                <a:tc>
                  <a:txBody>
                    <a:bodyPr lIns="73152" rIns="73152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Hallazgo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Implicación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685800">
                <a:tc>
                  <a:txBody>
                    <a:bodyPr lIns="73152" rIns="73152"/>
                    <a:lstStyle/>
                    <a:p>
                      <a:pPr algn="l"/>
                      <a:r>
                        <a:rPr sz="1400" b="1">
                          <a:solidFill>
                            <a:srgbClr val="111827"/>
                          </a:solidFill>
                          <a:latin typeface="Calibri"/>
                        </a:rPr>
                        <a:t>Desbalance extremo (Benign 85%, Heartbleed 11)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F1-macro va a sufrir en minorías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 lIns="73152" rIns="73152"/>
                    <a:lstStyle/>
                    <a:p>
                      <a:pPr algn="l"/>
                      <a:r>
                        <a:rPr sz="1400" b="1">
                          <a:solidFill>
                            <a:srgbClr val="111827"/>
                          </a:solidFill>
                          <a:latin typeface="Calibri"/>
                        </a:rPr>
                        <a:t>Web Attack tiene encoding roto (`–` corrupto)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Necesita normalización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 lIns="73152" rIns="73152"/>
                    <a:lstStyle/>
                    <a:p>
                      <a:pPr algn="l"/>
                      <a:r>
                        <a:rPr sz="1400" b="1">
                          <a:solidFill>
                            <a:srgbClr val="111827"/>
                          </a:solidFill>
                          <a:latin typeface="Calibri"/>
                        </a:rPr>
                        <a:t>8 columnas con varianza 0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Drop seguro, no aportan señal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 lIns="73152" rIns="73152"/>
                    <a:lstStyle/>
                    <a:p>
                      <a:pPr algn="l"/>
                      <a:r>
                        <a:rPr sz="1400" b="1">
                          <a:solidFill>
                            <a:srgbClr val="111827"/>
                          </a:solidFill>
                          <a:latin typeface="Calibri"/>
                        </a:rPr>
                        <a:t>Inf en features de tasa (Flow Bytes/s)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Cuando Flow Duration = 0 → reemplazar con 0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 lIns="73152" rIns="73152"/>
                    <a:lstStyle/>
                    <a:p>
                      <a:pPr algn="l"/>
                      <a:r>
                        <a:rPr sz="1400" b="1">
                          <a:solidFill>
                            <a:srgbClr val="111827"/>
                          </a:solidFill>
                          <a:latin typeface="Calibri"/>
                        </a:rPr>
                        <a:t>Pares Fwd/Bwd correlacionados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Candidatos a colinealidad (VIF)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486400"/>
            <a:ext cx="111556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>
                <a:solidFill>
                  <a:srgbClr val="CA8A04"/>
                </a:solidFill>
                <a:latin typeface="Calibri"/>
              </a:rPr>
              <a:t>Sin EDA, todo esto sale a la luz cuando el modelo ya está entrenado y falla.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Laboratorio IDS-ML · UDLA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Calibri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Notebook 03 — Feature audit (lo más denso)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155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1E40AF"/>
                </a:solidFill>
                <a:latin typeface="Calibri"/>
              </a:rPr>
              <a:t>De 77 features → 47 features finales. 30 drops justificados: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111556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585216">
                <a:tc>
                  <a:txBody>
                    <a:bodyPr lIns="73152" rIns="73152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Razón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Cantidad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Ejemplos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85216">
                <a:tc>
                  <a:txBody>
                    <a:bodyPr lIns="73152" rIns="73152"/>
                    <a:lstStyle/>
                    <a:p>
                      <a:pPr algn="l"/>
                      <a:r>
                        <a:rPr sz="1400" b="1">
                          <a:solidFill>
                            <a:srgbClr val="111827"/>
                          </a:solidFill>
                          <a:latin typeface="Calibri"/>
                        </a:rPr>
                        <a:t>Constantes (varianza 0)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Bwd_PSH_Flags, CWE_Flag_Count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 lIns="73152" rIns="73152"/>
                    <a:lstStyle/>
                    <a:p>
                      <a:pPr algn="l"/>
                      <a:r>
                        <a:rPr sz="1400" b="1">
                          <a:solidFill>
                            <a:srgbClr val="111827"/>
                          </a:solidFill>
                          <a:latin typeface="Calibri"/>
                        </a:rPr>
                        <a:t>Leakage (delata el label)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Init_Bwd_Win_Bytes = -1 si no hay backward → 100% PortScan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 lIns="73152" rIns="73152"/>
                    <a:lstStyle/>
                    <a:p>
                      <a:pPr algn="l"/>
                      <a:r>
                        <a:rPr sz="1400" b="1">
                          <a:solidFill>
                            <a:srgbClr val="111827"/>
                          </a:solidFill>
                          <a:latin typeface="Calibri"/>
                        </a:rPr>
                        <a:t>Redundancia matemática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Avg_Packet_Size ≡ Packet_Length_Mean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 lIns="73152" rIns="73152"/>
                    <a:lstStyle/>
                    <a:p>
                      <a:pPr algn="l"/>
                      <a:r>
                        <a:rPr sz="1400" b="1">
                          <a:solidFill>
                            <a:srgbClr val="111827"/>
                          </a:solidFill>
                          <a:latin typeface="Calibri"/>
                        </a:rPr>
                        <a:t>VIF iterativo &gt; 50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Total_Fwd_Packets, Idle_Mean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937760"/>
            <a:ext cx="11155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CA8A04"/>
                </a:solidFill>
                <a:latin typeface="Calibri"/>
              </a:rPr>
              <a:t>Lección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394960"/>
            <a:ext cx="1115568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Calibri"/>
              </a:rPr>
              <a:t>Init_Bwd_Win_Bytes = -1 clasifica PortScan con 99% precisión. Pero el modelo aprende el sentinel, no el patrón. Eso es leakage y arruina el modelo en datos reales.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Laboratorio IDS-ML · UDLA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Calibri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Notebooks 04 y 05 — Baselines y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303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1E40AF"/>
                </a:solidFill>
                <a:latin typeface="Calibri"/>
              </a:rPr>
              <a:t>Baselines (nb04)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53035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</a:tblGrid>
              <a:tr h="571500">
                <a:tc>
                  <a:txBody>
                    <a:bodyPr lIns="73152" rIns="73152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Modelo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F1-macro (val)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71500">
                <a:tc>
                  <a:txBody>
                    <a:bodyPr lIns="73152" rIns="73152"/>
                    <a:lstStyle/>
                    <a:p>
                      <a:pPr algn="l"/>
                      <a:r>
                        <a:rPr sz="1500" b="1">
                          <a:solidFill>
                            <a:srgbClr val="111827"/>
                          </a:solidFill>
                          <a:latin typeface="Calibri"/>
                        </a:rPr>
                        <a:t>LogReg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500">
                          <a:solidFill>
                            <a:srgbClr val="111827"/>
                          </a:solidFill>
                          <a:latin typeface="Calibri"/>
                        </a:rPr>
                        <a:t>0.49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 lIns="73152" rIns="73152"/>
                    <a:lstStyle/>
                    <a:p>
                      <a:pPr algn="l"/>
                      <a:r>
                        <a:rPr sz="1500" b="1">
                          <a:solidFill>
                            <a:srgbClr val="111827"/>
                          </a:solidFill>
                          <a:latin typeface="Calibri"/>
                        </a:rPr>
                        <a:t>KNN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500">
                          <a:solidFill>
                            <a:srgbClr val="111827"/>
                          </a:solidFill>
                          <a:latin typeface="Calibri"/>
                        </a:rPr>
                        <a:t>n/a (no escala)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 lIns="73152" rIns="73152"/>
                    <a:lstStyle/>
                    <a:p>
                      <a:pPr algn="l"/>
                      <a:r>
                        <a:rPr sz="1500" b="1">
                          <a:solidFill>
                            <a:srgbClr val="111827"/>
                          </a:solidFill>
                          <a:latin typeface="Calibri"/>
                        </a:rPr>
                        <a:t>RF default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500">
                          <a:solidFill>
                            <a:srgbClr val="111827"/>
                          </a:solidFill>
                          <a:latin typeface="Calibri"/>
                        </a:rPr>
                        <a:t>0.64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217920" y="1097280"/>
            <a:ext cx="5303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1E40AF"/>
                </a:solidFill>
                <a:latin typeface="Calibri"/>
              </a:rPr>
              <a:t>Tuning 16+16 configs (nb05)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0" y="1645920"/>
          <a:ext cx="53035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</a:tblGrid>
              <a:tr h="457200">
                <a:tc>
                  <a:txBody>
                    <a:bodyPr lIns="73152" rIns="73152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Modelo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F1-macro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57200">
                <a:tc>
                  <a:txBody>
                    <a:bodyPr lIns="73152" rIns="73152"/>
                    <a:lstStyle/>
                    <a:p>
                      <a:pPr algn="l"/>
                      <a:r>
                        <a:rPr sz="1500" b="1">
                          <a:solidFill>
                            <a:srgbClr val="111827"/>
                          </a:solidFill>
                          <a:latin typeface="Calibri"/>
                        </a:rPr>
                        <a:t>RF tuned ← winner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500">
                          <a:solidFill>
                            <a:srgbClr val="111827"/>
                          </a:solidFill>
                          <a:latin typeface="Calibri"/>
                        </a:rPr>
                        <a:t>0.670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lIns="73152" rIns="73152"/>
                    <a:lstStyle/>
                    <a:p>
                      <a:pPr algn="l"/>
                      <a:r>
                        <a:rPr sz="1500" b="1">
                          <a:solidFill>
                            <a:srgbClr val="111827"/>
                          </a:solidFill>
                          <a:latin typeface="Calibri"/>
                        </a:rPr>
                        <a:t>XGBoost tuned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500">
                          <a:solidFill>
                            <a:srgbClr val="111827"/>
                          </a:solidFill>
                          <a:latin typeface="Calibri"/>
                        </a:rPr>
                        <a:t>0.645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lIns="73152" rIns="73152"/>
                    <a:lstStyle/>
                    <a:p>
                      <a:pPr algn="l"/>
                      <a:r>
                        <a:rPr sz="1500" b="1">
                          <a:solidFill>
                            <a:srgbClr val="111827"/>
                          </a:solidFill>
                          <a:latin typeface="Calibri"/>
                        </a:rPr>
                        <a:t>RF default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500">
                          <a:solidFill>
                            <a:srgbClr val="111827"/>
                          </a:solidFill>
                          <a:latin typeface="Calibri"/>
                        </a:rPr>
                        <a:t>0.635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lIns="73152" rIns="73152"/>
                    <a:lstStyle/>
                    <a:p>
                      <a:pPr algn="l"/>
                      <a:r>
                        <a:rPr sz="1500" b="1">
                          <a:solidFill>
                            <a:srgbClr val="111827"/>
                          </a:solidFill>
                          <a:latin typeface="Calibri"/>
                        </a:rPr>
                        <a:t>XGBoost default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500">
                          <a:solidFill>
                            <a:srgbClr val="111827"/>
                          </a:solidFill>
                          <a:latin typeface="Calibri"/>
                        </a:rPr>
                        <a:t>0.632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572000"/>
            <a:ext cx="11155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CA8A04"/>
                </a:solidFill>
                <a:latin typeface="Calibri"/>
              </a:rPr>
              <a:t>Hallazgo importante: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0"/>
            <a:ext cx="1115568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Calibri"/>
              </a:rPr>
              <a:t>Boosting NO siempre domina al bagging. Depende del dataset. En CICIDS2017 con desbalance extremo, RF + class_weight='balanced_subsample' + min_samples_leaf=5 supera a XGBoost tuneado.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Laboratorio IDS-ML · UDLA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Calibri"/>
              </a:rP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Notebook 06 — Modelo final 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155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4B5563"/>
                </a:solidFill>
                <a:latin typeface="Calibri"/>
              </a:rPr>
              <a:t>Train sobre train+val combinados (60K balanceados), eval en test no visto (350K).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111556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457200">
                <a:tc>
                  <a:txBody>
                    <a:bodyPr lIns="73152" rIns="73152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Modelo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F1-macro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F1-weighted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57200">
                <a:tc>
                  <a:txBody>
                    <a:bodyPr lIns="73152" rIns="73152"/>
                    <a:lstStyle/>
                    <a:p>
                      <a:pPr algn="l"/>
                      <a:r>
                        <a:rPr sz="1400" b="1">
                          <a:solidFill>
                            <a:srgbClr val="111827"/>
                          </a:solidFill>
                          <a:latin typeface="Calibri"/>
                        </a:rPr>
                        <a:t>RF v2 binary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0.9875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0.9937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0.9937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lIns="73152" rIns="73152"/>
                    <a:lstStyle/>
                    <a:p>
                      <a:pPr algn="l"/>
                      <a:r>
                        <a:rPr sz="1400" b="1">
                          <a:solidFill>
                            <a:srgbClr val="111827"/>
                          </a:solidFill>
                          <a:latin typeface="Calibri"/>
                        </a:rPr>
                        <a:t>RF v2 multiclass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0.6630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0.9727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0.9565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lIns="73152" rIns="73152"/>
                    <a:lstStyle/>
                    <a:p>
                      <a:pPr algn="l"/>
                      <a:r>
                        <a:rPr sz="1400" b="1">
                          <a:solidFill>
                            <a:srgbClr val="111827"/>
                          </a:solidFill>
                          <a:latin typeface="Calibri"/>
                        </a:rPr>
                        <a:t>XGBoost v2 binary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0.9814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0.9906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0.9905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lIns="73152" rIns="73152"/>
                    <a:lstStyle/>
                    <a:p>
                      <a:pPr algn="l"/>
                      <a:r>
                        <a:rPr sz="1400" b="1">
                          <a:solidFill>
                            <a:srgbClr val="111827"/>
                          </a:solidFill>
                          <a:latin typeface="Calibri"/>
                        </a:rPr>
                        <a:t>XGBoost v2 multi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0.6508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0.9746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0.9609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297680"/>
            <a:ext cx="11155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CA8A04"/>
                </a:solidFill>
                <a:latin typeface="Calibri"/>
              </a:rPr>
              <a:t>El gap entre binary (0.99) y multi (0.66) es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846320"/>
            <a:ext cx="11155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111827"/>
                </a:solidFill>
                <a:latin typeface="Calibri"/>
              </a:rPr>
              <a:t>•  Saber 'esto es ataque' es fácil — F1-macro 0.99 binary lo confirma.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11827"/>
                </a:solidFill>
                <a:latin typeface="Calibri"/>
              </a:rPr>
              <a:t>•  Saber QUÉ TIPO de ataque es difícil porque las clases minoritarias (Web Attack: 322 en test, Reconnaissance: 516)</a:t>
            </a:r>
          </a:p>
          <a:p>
            <a:pPr lvl="1" algn="l">
              <a:spcAft>
                <a:spcPts val="800"/>
              </a:spcAft>
            </a:pPr>
            <a:r>
              <a:rPr sz="1200">
                <a:solidFill>
                  <a:srgbClr val="111827"/>
                </a:solidFill>
                <a:latin typeface="Calibri"/>
              </a:rPr>
              <a:t>○  …tienen muchos falsos positivos por la proporción 296K Benign vs 322 minorías. 1% FP en Benign = 3000 errores.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Laboratorio IDS-ML · UDLA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Calibri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Notebook 07 — Adversarial (HopSkipJump)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155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4B5563"/>
                </a:solidFill>
                <a:latin typeface="Calibri"/>
              </a:rPr>
              <a:t>Black-box L2-norm minimization, 25 muestras de cada clase de ataque.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111556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548640">
                <a:tc>
                  <a:txBody>
                    <a:bodyPr lIns="73152" rIns="73152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Modelo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Evasión total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Evasión a Benign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L2 mediano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48640">
                <a:tc>
                  <a:txBody>
                    <a:bodyPr lIns="73152" rIns="73152"/>
                    <a:lstStyle/>
                    <a:p>
                      <a:pPr algn="l"/>
                      <a:r>
                        <a:rPr sz="1500" b="1">
                          <a:solidFill>
                            <a:srgbClr val="111827"/>
                          </a:solidFill>
                          <a:latin typeface="Calibri"/>
                        </a:rPr>
                        <a:t>RF v2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500">
                          <a:solidFill>
                            <a:srgbClr val="111827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500">
                          <a:solidFill>
                            <a:srgbClr val="111827"/>
                          </a:solidFill>
                          <a:latin typeface="Calibri"/>
                        </a:rPr>
                        <a:t>87.5%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500">
                          <a:solidFill>
                            <a:srgbClr val="111827"/>
                          </a:solidFill>
                          <a:latin typeface="Calibri"/>
                        </a:rPr>
                        <a:t>2.63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 lIns="73152" rIns="73152"/>
                    <a:lstStyle/>
                    <a:p>
                      <a:pPr algn="l"/>
                      <a:r>
                        <a:rPr sz="1500" b="1">
                          <a:solidFill>
                            <a:srgbClr val="111827"/>
                          </a:solidFill>
                          <a:latin typeface="Calibri"/>
                        </a:rPr>
                        <a:t>XGBoost v2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500">
                          <a:solidFill>
                            <a:srgbClr val="111827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500">
                          <a:solidFill>
                            <a:srgbClr val="111827"/>
                          </a:solidFill>
                          <a:latin typeface="Calibri"/>
                        </a:rPr>
                        <a:t>76.0%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500">
                          <a:solidFill>
                            <a:srgbClr val="111827"/>
                          </a:solidFill>
                          <a:latin typeface="Calibri"/>
                        </a:rPr>
                        <a:t>2.67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657600"/>
            <a:ext cx="11155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CA8A04"/>
                </a:solidFill>
                <a:latin typeface="Calibri"/>
              </a:rPr>
              <a:t>Implicancia para el SOC: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15568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Calibri"/>
              </a:rPr>
              <a:t>F1-macro 0.99 (binary) NO ES 'modelo seguro'. Un atacante adaptativo viola los dos modelos con perturbaciones mínimas. Por eso Suricata sigue importando — sus firmas no se evaden con perturbaciones de features.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60720"/>
            <a:ext cx="111556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Calibri"/>
              </a:rPr>
              <a:t>Caveat: HopSkipJump perturba feature space, no problem space. Trabajo futuro = atacar el tráfico real.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Laboratorio IDS-ML · UDLA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Calibri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Notebook 08 — Inference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1556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Calibri"/>
              </a:rPr>
              <a:t>¿Lo que entrenó el notebook = lo que sirve la API?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920240"/>
            <a:ext cx="11155680" cy="1828800"/>
          </a:xfrm>
          <a:prstGeom prst="rect">
            <a:avLst/>
          </a:prstGeom>
          <a:solidFill>
            <a:srgbClr val="F3F4F6"/>
          </a:solidFill>
          <a:ln w="63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l"/>
            <a:r>
              <a:rPr sz="1400">
                <a:solidFill>
                  <a:srgbClr val="111827"/>
                </a:solidFill>
                <a:latin typeface="Consolas"/>
              </a:rPr>
              <a:t>Categoría matches:    30/30</a:t>
            </a:r>
          </a:p>
          <a:p>
            <a:pPr algn="l"/>
            <a:r>
              <a:rPr sz="1400">
                <a:solidFill>
                  <a:srgbClr val="111827"/>
                </a:solidFill>
                <a:latin typeface="Consolas"/>
              </a:rPr>
              <a:t>Probabilidad matches: 30/30  (tolerancia 1e-3)</a:t>
            </a:r>
          </a:p>
          <a:p>
            <a:pPr algn="l"/>
            <a:r>
              <a:rPr sz="1400">
                <a:solidFill>
                  <a:srgbClr val="111827"/>
                </a:solidFill>
                <a:latin typeface="Consolas"/>
              </a:rPr>
              <a:t>Binary matches:       30/30</a:t>
            </a:r>
          </a:p>
          <a:p>
            <a:pPr algn="l"/>
            <a:r>
              <a:rPr sz="1400">
                <a:solidFill>
                  <a:srgbClr val="111827"/>
                </a:solidFill>
                <a:latin typeface="Consolas"/>
              </a:rPr>
              <a:t/>
            </a:r>
          </a:p>
          <a:p>
            <a:pPr algn="l"/>
            <a:r>
              <a:rPr sz="1400">
                <a:solidFill>
                  <a:srgbClr val="111827"/>
                </a:solidFill>
                <a:latin typeface="Consolas"/>
              </a:rPr>
              <a:t>SHA-256 local:    7a1ecaf97d4aa17a8462b243c0512b5dd0c626a79021b095f68532689bf497f0</a:t>
            </a:r>
          </a:p>
          <a:p>
            <a:pPr algn="l"/>
            <a:r>
              <a:rPr sz="1400">
                <a:solidFill>
                  <a:srgbClr val="111827"/>
                </a:solidFill>
                <a:latin typeface="Consolas"/>
              </a:rPr>
              <a:t>SHA-256 manifest: 7a1ecaf97d4aa17a8462b243c0512b5dd0c626a79021b095f68532689bf497f0</a:t>
            </a:r>
          </a:p>
          <a:p>
            <a:pPr algn="l"/>
            <a:r>
              <a:rPr sz="1400">
                <a:solidFill>
                  <a:srgbClr val="111827"/>
                </a:solidFill>
                <a:latin typeface="Consolas"/>
              </a:rPr>
              <a:t/>
            </a:r>
          </a:p>
          <a:p>
            <a:pPr algn="l"/>
            <a:r>
              <a:rPr sz="1400">
                <a:solidFill>
                  <a:srgbClr val="111827"/>
                </a:solidFill>
                <a:latin typeface="Consolas"/>
              </a:rPr>
              <a:t>✓ MATCH: notebook y API leen el mismo modelo.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0"/>
            <a:ext cx="111556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>
                <a:solidFill>
                  <a:srgbClr val="CA8A04"/>
                </a:solidFill>
                <a:latin typeface="Calibri"/>
              </a:rPr>
              <a:t>Cero training/serving skew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1115568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Calibri"/>
              </a:rPr>
              <a:t>El modelo desplegado es bit-exact con el del notebook. No hay drift por bugs de scaler, label encoder o versión de sklearn. Esa garantía es la que permite usar el lab como referencia académica reproducible.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Laboratorio IDS-ML · UDLA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Calibri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600" b="0">
                <a:solidFill>
                  <a:srgbClr val="C7D2FE"/>
                </a:solidFill>
                <a:latin typeface="Calibri"/>
              </a:rPr>
              <a:t>Sección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5600" b="1">
                <a:solidFill>
                  <a:srgbClr val="FFFFFF"/>
                </a:solidFill>
                <a:latin typeface="Calibri"/>
              </a:rPr>
              <a:t>Stack en producción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93776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>
                <a:solidFill>
                  <a:srgbClr val="C7D2FE"/>
                </a:solidFill>
                <a:latin typeface="Calibri"/>
              </a:rPr>
              <a:t>ML API hardened · Dual-model · SHAP · Sensor real · Grafana SOC enterprise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ML API hardened (FastAPI)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155680" cy="1463040"/>
          </a:xfrm>
          <a:prstGeom prst="rect">
            <a:avLst/>
          </a:prstGeom>
          <a:solidFill>
            <a:srgbClr val="F3F4F6"/>
          </a:solidFill>
          <a:ln w="63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l"/>
            <a:r>
              <a:rPr sz="1200">
                <a:solidFill>
                  <a:srgbClr val="111827"/>
                </a:solidFill>
                <a:latin typeface="Consolas"/>
              </a:rPr>
              <a:t>@app.post("/predict", dependencies=[Depends(require_api_key)])</a:t>
            </a:r>
          </a:p>
          <a:p>
            <a:pPr algn="l"/>
            <a:r>
              <a:rPr sz="1200">
                <a:solidFill>
                  <a:srgbClr val="111827"/>
                </a:solidFill>
                <a:latin typeface="Consolas"/>
              </a:rPr>
              <a:t>@limiter.limit("120/minute")</a:t>
            </a:r>
          </a:p>
          <a:p>
            <a:pPr algn="l"/>
            <a:r>
              <a:rPr sz="1200">
                <a:solidFill>
                  <a:srgbClr val="111827"/>
                </a:solidFill>
                <a:latin typeface="Consolas"/>
              </a:rPr>
              <a:t>def predict(flow: FlowInput, model: str = "rf", explain: bool = True):</a:t>
            </a:r>
          </a:p>
          <a:p>
            <a:pPr algn="l"/>
            <a:r>
              <a:rPr sz="1200">
                <a:solidFill>
                  <a:srgbClr val="111827"/>
                </a:solidFill>
                <a:latin typeface="Consolas"/>
              </a:rPr>
              <a:t>    bin_clf, mc_clf, explainer = _resolve_models(model)</a:t>
            </a:r>
          </a:p>
          <a:p>
            <a:pPr algn="l"/>
            <a:r>
              <a:rPr sz="1200">
                <a:solidFill>
                  <a:srgbClr val="111827"/>
                </a:solidFill>
                <a:latin typeface="Consolas"/>
              </a:rPr>
              <a:t>    X_s = scaler.transform(np.array(flow.features).reshape(1, -1))</a:t>
            </a:r>
          </a:p>
          <a:p>
            <a:pPr algn="l"/>
            <a:r>
              <a:rPr sz="1200">
                <a:solidFill>
                  <a:srgbClr val="111827"/>
                </a:solidFill>
                <a:latin typeface="Consolas"/>
              </a:rPr>
              <a:t>    ...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743200"/>
          <a:ext cx="1115568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5577840"/>
              </a:tblGrid>
              <a:tr h="483325">
                <a:tc>
                  <a:txBody>
                    <a:bodyPr lIns="73152" rIns="73152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Mecanismo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Cómo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83325">
                <a:tc>
                  <a:txBody>
                    <a:bodyPr lIns="73152" rIns="73152"/>
                    <a:lstStyle/>
                    <a:p>
                      <a:pPr algn="l"/>
                      <a:r>
                        <a:rPr sz="1400" b="1">
                          <a:solidFill>
                            <a:srgbClr val="111827"/>
                          </a:solidFill>
                          <a:latin typeface="Calibri"/>
                        </a:rPr>
                        <a:t>Auth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X-API-Key header obligatorio</a:t>
                      </a:r>
                    </a:p>
                  </a:txBody>
                  <a:tcPr/>
                </a:tc>
              </a:tr>
              <a:tr h="483325">
                <a:tc>
                  <a:txBody>
                    <a:bodyPr lIns="73152" rIns="73152"/>
                    <a:lstStyle/>
                    <a:p>
                      <a:pPr algn="l"/>
                      <a:r>
                        <a:rPr sz="1400" b="1">
                          <a:solidFill>
                            <a:srgbClr val="111827"/>
                          </a:solidFill>
                          <a:latin typeface="Calibri"/>
                        </a:rPr>
                        <a:t>Rate limit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120 req/min por IP via slowapi</a:t>
                      </a:r>
                    </a:p>
                  </a:txBody>
                  <a:tcPr/>
                </a:tc>
              </a:tr>
              <a:tr h="483325">
                <a:tc>
                  <a:txBody>
                    <a:bodyPr lIns="73152" rIns="73152"/>
                    <a:lstStyle/>
                    <a:p>
                      <a:pPr algn="l"/>
                      <a:r>
                        <a:rPr sz="1400" b="1">
                          <a:solidFill>
                            <a:srgbClr val="111827"/>
                          </a:solidFill>
                          <a:latin typeface="Calibri"/>
                        </a:rPr>
                        <a:t>Integridad modelo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SHA-256 verificado antes de carga (anti pickle RCE)</a:t>
                      </a:r>
                    </a:p>
                  </a:txBody>
                  <a:tcPr/>
                </a:tc>
              </a:tr>
              <a:tr h="483325">
                <a:tc>
                  <a:txBody>
                    <a:bodyPr lIns="73152" rIns="73152"/>
                    <a:lstStyle/>
                    <a:p>
                      <a:pPr algn="l"/>
                      <a:r>
                        <a:rPr sz="1400" b="1">
                          <a:solidFill>
                            <a:srgbClr val="111827"/>
                          </a:solidFill>
                          <a:latin typeface="Calibri"/>
                        </a:rPr>
                        <a:t>Dual-model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?model=rf|xgb (default rf), reportado en /health.available_models</a:t>
                      </a:r>
                    </a:p>
                  </a:txBody>
                  <a:tcPr/>
                </a:tc>
              </a:tr>
              <a:tr h="483325">
                <a:tc>
                  <a:txBody>
                    <a:bodyPr lIns="73152" rIns="73152"/>
                    <a:lstStyle/>
                    <a:p>
                      <a:pPr algn="l"/>
                      <a:r>
                        <a:rPr sz="1400" b="1">
                          <a:solidFill>
                            <a:srgbClr val="111827"/>
                          </a:solidFill>
                          <a:latin typeface="Calibri"/>
                        </a:rPr>
                        <a:t>Validación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Rechaza NaN/Inf, batches &gt; 500</a:t>
                      </a:r>
                    </a:p>
                  </a:txBody>
                  <a:tcPr/>
                </a:tc>
              </a:tr>
              <a:tr h="483330">
                <a:tc>
                  <a:txBody>
                    <a:bodyPr lIns="73152" rIns="73152"/>
                    <a:lstStyle/>
                    <a:p>
                      <a:pPr algn="l"/>
                      <a:r>
                        <a:rPr sz="1400" b="1">
                          <a:solidFill>
                            <a:srgbClr val="111827"/>
                          </a:solidFill>
                          <a:latin typeface="Calibri"/>
                        </a:rPr>
                        <a:t>Request ID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X-Request-ID middleware para correlación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Laboratorio IDS-ML · UDLA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Calibri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SHAP — explicabilidad per-flujo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155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1E40AF"/>
                </a:solidFill>
                <a:latin typeface="Calibri"/>
              </a:rPr>
              <a:t>/predict?explain=true devuelve por qué clasificó así: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37360"/>
            <a:ext cx="11155680" cy="2926080"/>
          </a:xfrm>
          <a:prstGeom prst="rect">
            <a:avLst/>
          </a:prstGeom>
          <a:solidFill>
            <a:srgbClr val="F3F4F6"/>
          </a:solidFill>
          <a:ln w="63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l"/>
            <a:r>
              <a:rPr sz="1200">
                <a:solidFill>
                  <a:srgbClr val="111827"/>
                </a:solidFill>
                <a:latin typeface="Consolas"/>
              </a:rPr>
              <a:t>{</a:t>
            </a:r>
          </a:p>
          <a:p>
            <a:pPr algn="l"/>
            <a:r>
              <a:rPr sz="1200">
                <a:solidFill>
                  <a:srgbClr val="111827"/>
                </a:solidFill>
                <a:latin typeface="Consolas"/>
              </a:rPr>
              <a:t>  "category": "Reconnaissance",</a:t>
            </a:r>
          </a:p>
          <a:p>
            <a:pPr algn="l"/>
            <a:r>
              <a:rPr sz="1200">
                <a:solidFill>
                  <a:srgbClr val="111827"/>
                </a:solidFill>
                <a:latin typeface="Consolas"/>
              </a:rPr>
              <a:t>  "category_confidence": 0.997,</a:t>
            </a:r>
          </a:p>
          <a:p>
            <a:pPr algn="l"/>
            <a:r>
              <a:rPr sz="1200">
                <a:solidFill>
                  <a:srgbClr val="111827"/>
                </a:solidFill>
                <a:latin typeface="Consolas"/>
              </a:rPr>
              <a:t>  "top_contributions": [</a:t>
            </a:r>
          </a:p>
          <a:p>
            <a:pPr algn="l"/>
            <a:r>
              <a:rPr sz="1200">
                <a:solidFill>
                  <a:srgbClr val="111827"/>
                </a:solidFill>
                <a:latin typeface="Consolas"/>
              </a:rPr>
              <a:t>    {"feature": "Fwd_IAT_Std",        "shap":  1.99, "value": -0.58},</a:t>
            </a:r>
          </a:p>
          <a:p>
            <a:pPr algn="l"/>
            <a:r>
              <a:rPr sz="1200">
                <a:solidFill>
                  <a:srgbClr val="111827"/>
                </a:solidFill>
                <a:latin typeface="Consolas"/>
              </a:rPr>
              <a:t>    {"feature": "PSH_Flag_Count",     "shap": -1.08, "value": -0.91},</a:t>
            </a:r>
          </a:p>
          <a:p>
            <a:pPr algn="l"/>
            <a:r>
              <a:rPr sz="1200">
                <a:solidFill>
                  <a:srgbClr val="111827"/>
                </a:solidFill>
                <a:latin typeface="Consolas"/>
              </a:rPr>
              <a:t>    {"feature": "Total_Fwd_Packets",  "shap":  1.02, "value": -0.03},</a:t>
            </a:r>
          </a:p>
          <a:p>
            <a:pPr algn="l"/>
            <a:r>
              <a:rPr sz="1200">
                <a:solidFill>
                  <a:srgbClr val="111827"/>
                </a:solidFill>
                <a:latin typeface="Consolas"/>
              </a:rPr>
              <a:t>    {"feature": "Flow_IAT_Min",       "shap":  0.74, "value": -0.12},</a:t>
            </a:r>
          </a:p>
          <a:p>
            <a:pPr algn="l"/>
            <a:r>
              <a:rPr sz="1200">
                <a:solidFill>
                  <a:srgbClr val="111827"/>
                </a:solidFill>
                <a:latin typeface="Consolas"/>
              </a:rPr>
              <a:t>    {"feature": "Bwd_Packets_per_s",  "shap":  0.61, "value": -0.43}</a:t>
            </a:r>
          </a:p>
          <a:p>
            <a:pPr algn="l"/>
            <a:r>
              <a:rPr sz="1200">
                <a:solidFill>
                  <a:srgbClr val="111827"/>
                </a:solidFill>
                <a:latin typeface="Consolas"/>
              </a:rPr>
              <a:t>  ]</a:t>
            </a:r>
          </a:p>
          <a:p>
            <a:pPr algn="l"/>
            <a:r>
              <a:rPr sz="1200">
                <a:solidFill>
                  <a:srgbClr val="111827"/>
                </a:solidFill>
                <a:latin typeface="Consola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46320"/>
            <a:ext cx="1115568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Calibri"/>
              </a:rPr>
              <a:t>El SOC analyst ve que la decisión vino del patrón de IAT forward + ausencia de PSH flags. No es una caja negra: es una decisión interpretable.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0"/>
            <a:ext cx="11155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Calibri"/>
              </a:rPr>
              <a:t>Trade-off: ~50ms extra/predicción. Sensor batch lo desactiva (?explain=false).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Laboratorio IDS-ML · UDLA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Calibri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Sensor — CICFlowMeter en vivo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155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4B5563"/>
                </a:solidFill>
                <a:latin typeface="Calibri"/>
              </a:rPr>
              <a:t>Captura tráfico real con scapy + extrae las MISMAS 47 features del modelo: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37360"/>
            <a:ext cx="11155680" cy="1280160"/>
          </a:xfrm>
          <a:prstGeom prst="rect">
            <a:avLst/>
          </a:prstGeom>
          <a:solidFill>
            <a:srgbClr val="F3F4F6"/>
          </a:solidFill>
          <a:ln w="63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l"/>
            <a:r>
              <a:rPr sz="1400">
                <a:solidFill>
                  <a:srgbClr val="111827"/>
                </a:solidFill>
                <a:latin typeface="Consolas"/>
              </a:rPr>
              <a:t>curl -X POST http://localhost:9999/capture/start \</a:t>
            </a:r>
          </a:p>
          <a:p>
            <a:pPr algn="l"/>
            <a:r>
              <a:rPr sz="1400">
                <a:solidFill>
                  <a:srgbClr val="111827"/>
                </a:solidFill>
                <a:latin typeface="Consolas"/>
              </a:rPr>
              <a:t>  -H 'Content-Type: application/json' \</a:t>
            </a:r>
          </a:p>
          <a:p>
            <a:pPr algn="l"/>
            <a:r>
              <a:rPr sz="1400">
                <a:solidFill>
                  <a:srgbClr val="111827"/>
                </a:solidFill>
                <a:latin typeface="Consolas"/>
              </a:rPr>
              <a:t>  -d '{"duration":15,"attack_type":"scan","intensity":80,</a:t>
            </a:r>
          </a:p>
          <a:p>
            <a:pPr algn="l"/>
            <a:r>
              <a:rPr sz="1400">
                <a:solidFill>
                  <a:srgbClr val="111827"/>
                </a:solidFill>
                <a:latin typeface="Consolas"/>
              </a:rPr>
              <a:t>       "inject_dataset":true}'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1155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1E40AF"/>
                </a:solidFill>
                <a:latin typeface="Calibri"/>
              </a:rPr>
              <a:t>Por cada captura: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0"/>
            <a:ext cx="11155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111827"/>
                </a:solidFill>
                <a:latin typeface="Calibri"/>
              </a:rPr>
              <a:t>•  Genera tráfico contra DVWA con scapy (TCP scan, flood, brute force, etc).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11827"/>
                </a:solidFill>
                <a:latin typeface="Calibri"/>
              </a:rPr>
              <a:t>•  Captura paquetes con CICFlowMeter Python.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11827"/>
                </a:solidFill>
                <a:latin typeface="Calibri"/>
              </a:rPr>
              <a:t>•  Inyecta también flujos reales de CICIDS2017 (inject_dataset=true).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11827"/>
                </a:solidFill>
                <a:latin typeface="Calibri"/>
              </a:rPr>
              <a:t>•  Llama /predict/batch para RF y XGBoost en paralelo.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11827"/>
                </a:solidFill>
                <a:latin typeface="Calibri"/>
              </a:rPr>
              <a:t>•  Persiste predicciones en sensor_predictions.jsonl con tag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Laboratorio IDS-ML · UDLA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Calibri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Grafana — 3 dashboards SOC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155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Calibri"/>
              </a:rPr>
              <a:t>Cada dashboard responde a un detector específico. Loki indexa 'model' como label.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111556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548640">
                <a:tc>
                  <a:txBody>
                    <a:bodyPr lIns="73152" rIns="73152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Dashboard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Filtro Loki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Audiencia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48640">
                <a:tc>
                  <a:txBody>
                    <a:bodyPr lIns="73152" rIns="73152"/>
                    <a:lstStyle/>
                    <a:p>
                      <a:pPr algn="l"/>
                      <a:r>
                        <a:rPr sz="1200" b="1">
                          <a:solidFill>
                            <a:srgbClr val="111827"/>
                          </a:solidFill>
                          <a:latin typeface="Calibri"/>
                        </a:rPr>
                        <a:t>SOC Suricata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200">
                          <a:solidFill>
                            <a:srgbClr val="111827"/>
                          </a:solidFill>
                          <a:latin typeface="Calibri"/>
                        </a:rPr>
                        <a:t>{job="suricata"} |= "alert"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200">
                          <a:solidFill>
                            <a:srgbClr val="111827"/>
                          </a:solidFill>
                          <a:latin typeface="Calibri"/>
                        </a:rPr>
                        <a:t>Analista que confía en firmas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 lIns="73152" rIns="73152"/>
                    <a:lstStyle/>
                    <a:p>
                      <a:pPr algn="l"/>
                      <a:r>
                        <a:rPr sz="1200" b="1">
                          <a:solidFill>
                            <a:srgbClr val="111827"/>
                          </a:solidFill>
                          <a:latin typeface="Calibri"/>
                        </a:rPr>
                        <a:t>SOC RF v2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200">
                          <a:solidFill>
                            <a:srgbClr val="111827"/>
                          </a:solidFill>
                          <a:latin typeface="Calibri"/>
                        </a:rPr>
                        <a:t>{job="ml_predictions", model="rf"}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200">
                          <a:solidFill>
                            <a:srgbClr val="111827"/>
                          </a:solidFill>
                          <a:latin typeface="Calibri"/>
                        </a:rPr>
                        <a:t>Confía en bagging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 lIns="73152" rIns="73152"/>
                    <a:lstStyle/>
                    <a:p>
                      <a:pPr algn="l"/>
                      <a:r>
                        <a:rPr sz="1200" b="1">
                          <a:solidFill>
                            <a:srgbClr val="111827"/>
                          </a:solidFill>
                          <a:latin typeface="Calibri"/>
                        </a:rPr>
                        <a:t>SOC XGB v2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200">
                          <a:solidFill>
                            <a:srgbClr val="111827"/>
                          </a:solidFill>
                          <a:latin typeface="Calibri"/>
                        </a:rPr>
                        <a:t>{job="ml_predictions", model="xgb"}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200">
                          <a:solidFill>
                            <a:srgbClr val="111827"/>
                          </a:solidFill>
                          <a:latin typeface="Calibri"/>
                        </a:rPr>
                        <a:t>Confía en boosting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114800"/>
            <a:ext cx="11155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1E40AF"/>
                </a:solidFill>
                <a:latin typeface="Calibri"/>
              </a:rPr>
              <a:t>Panels comunes en cada uno: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11155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111827"/>
                </a:solidFill>
                <a:latin typeface="Calibri"/>
              </a:rPr>
              <a:t>•  Tasa por minuto, distribución de categorías, severidad.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11827"/>
                </a:solidFill>
                <a:latin typeface="Calibri"/>
              </a:rPr>
              <a:t>•  Top src_ip flagged, top dst_port.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11827"/>
                </a:solidFill>
                <a:latin typeface="Calibri"/>
              </a:rPr>
              <a:t>•  Stream en vivo con drilldown a request_id.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11827"/>
                </a:solidFill>
                <a:latin typeface="Calibri"/>
              </a:rPr>
              <a:t>•  El SOC compara: ¿RF y XGBoost coinciden? ¿Suricata atrapa lo que ML perdió?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Laboratorio IDS-ML · UDLA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Calibri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Streamlit — dashboard pedagógico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155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1E40AF"/>
                </a:solidFill>
                <a:latin typeface="Calibri"/>
              </a:rPr>
              <a:t>6 tabs en orden didáctico: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111556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587828"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Tab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Contenido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87828"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1">
                          <a:solidFill>
                            <a:srgbClr val="11182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Intro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Glosario, links, recorrido del lab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1">
                          <a:solidFill>
                            <a:srgbClr val="11182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Dataset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Pie chart 6 clases, histograma feature, top correlaciones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1">
                          <a:solidFill>
                            <a:srgbClr val="11182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Métricas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Matriz de confusión EN VIVO + comparativa RF vs XGBoost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1">
                          <a:solidFill>
                            <a:srgbClr val="11182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Predicción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Selector RF/XGB, sliders top-6, SHAP signed + MITRE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1">
                          <a:solidFill>
                            <a:srgbClr val="11182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Ataques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Lanzar capturas y payloads HTTP contra DVWA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1">
                          <a:solidFill>
                            <a:srgbClr val="11182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Suricata vs ML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Correlación 5-tupla, 4 veredictos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Laboratorio IDS-ML · UDLA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Calibri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Reproducibilidad — git clone + setup.sh = 47s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155680" cy="1280160"/>
          </a:xfrm>
          <a:prstGeom prst="rect">
            <a:avLst/>
          </a:prstGeom>
          <a:solidFill>
            <a:srgbClr val="F3F4F6"/>
          </a:solidFill>
          <a:ln w="63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l"/>
            <a:r>
              <a:rPr sz="1500">
                <a:solidFill>
                  <a:srgbClr val="111827"/>
                </a:solidFill>
                <a:latin typeface="Consolas"/>
              </a:rPr>
              <a:t>git clone https://github.com/exe-keppler/ML-Lab-Capston.git</a:t>
            </a:r>
          </a:p>
          <a:p>
            <a:pPr algn="l"/>
            <a:r>
              <a:rPr sz="1500">
                <a:solidFill>
                  <a:srgbClr val="111827"/>
                </a:solidFill>
                <a:latin typeface="Consolas"/>
              </a:rPr>
              <a:t>cd ML-Lab-Capston</a:t>
            </a:r>
          </a:p>
          <a:p>
            <a:pPr algn="l"/>
            <a:r>
              <a:rPr sz="1500">
                <a:solidFill>
                  <a:srgbClr val="111827"/>
                </a:solidFill>
                <a:latin typeface="Consolas"/>
              </a:rPr>
              <a:t>./setup.sh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155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1E40AF"/>
                </a:solidFill>
                <a:latin typeface="Calibri"/>
              </a:rPr>
              <a:t>Smoke test reciente (medido en VM con imágenes cacheadas):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200400"/>
            <a:ext cx="11155680" cy="1463040"/>
          </a:xfrm>
          <a:prstGeom prst="rect">
            <a:avLst/>
          </a:prstGeom>
          <a:solidFill>
            <a:srgbClr val="F3F4F6"/>
          </a:solidFill>
          <a:ln w="63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l"/>
            <a:r>
              <a:rPr sz="1500">
                <a:solidFill>
                  <a:srgbClr val="111827"/>
                </a:solidFill>
                <a:latin typeface="Consolas"/>
              </a:rPr>
              <a:t>═══════════ Resumen final ═══════════</a:t>
            </a:r>
          </a:p>
          <a:p>
            <a:pPr algn="l"/>
            <a:r>
              <a:rPr sz="1500">
                <a:solidFill>
                  <a:srgbClr val="111827"/>
                </a:solidFill>
                <a:latin typeface="Consolas"/>
              </a:rPr>
              <a:t>Containers corriendo: 11</a:t>
            </a:r>
          </a:p>
          <a:p>
            <a:pPr algn="l"/>
            <a:r>
              <a:rPr sz="1500">
                <a:solidFill>
                  <a:srgbClr val="111827"/>
                </a:solidFill>
                <a:latin typeface="Consolas"/>
              </a:rPr>
              <a:t>Setup duración: 47s</a:t>
            </a:r>
          </a:p>
          <a:p>
            <a:pPr algn="l"/>
            <a:r>
              <a:rPr sz="1500">
                <a:solidFill>
                  <a:srgbClr val="111827"/>
                </a:solidFill>
                <a:latin typeface="Consolas"/>
              </a:rPr>
              <a:t>Fresh deploy desde GitHub al smoke OK: 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37760"/>
            <a:ext cx="1115568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Calibri"/>
              </a:rPr>
              <a:t>11 contenedores up, ML API healthy con model:v2 + available_models:[rf,xgb] + integrity:verified, Streamlit/Grafana/Jupyter/DVWA respondiendo, captura test productiva.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Laboratorio IDS-ML · UDLA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Calibri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600" b="0">
                <a:solidFill>
                  <a:srgbClr val="C7D2FE"/>
                </a:solidFill>
                <a:latin typeface="Calibri"/>
              </a:rPr>
              <a:t>Sección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5600" b="1">
                <a:solidFill>
                  <a:srgbClr val="FFFFFF"/>
                </a:solidFill>
                <a:latin typeface="Calibri"/>
              </a:rPr>
              <a:t>Limitaciones honestas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93776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>
                <a:solidFill>
                  <a:srgbClr val="C7D2FE"/>
                </a:solidFill>
                <a:latin typeface="Calibri"/>
              </a:rPr>
              <a:t>F1-macro 0.99 ≠ modelo seguro. Por qué ML + reglas en paralelo.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El elefante en la habitación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1556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400" b="1">
                <a:solidFill>
                  <a:srgbClr val="CA8A04"/>
                </a:solidFill>
                <a:latin typeface="Calibri"/>
              </a:rPr>
              <a:t>F1-macro 0.99 binary ≠ modelo seguro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011680"/>
          <a:ext cx="111556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548640">
                <a:tc>
                  <a:txBody>
                    <a:bodyPr lIns="73152" rIns="73152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Detector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Clean F1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Bajo HopSkipJump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48640">
                <a:tc>
                  <a:txBody>
                    <a:bodyPr lIns="73152" rIns="73152"/>
                    <a:lstStyle/>
                    <a:p>
                      <a:pPr algn="l"/>
                      <a:r>
                        <a:rPr sz="1500" b="1">
                          <a:solidFill>
                            <a:srgbClr val="111827"/>
                          </a:solidFill>
                          <a:latin typeface="Calibri"/>
                        </a:rPr>
                        <a:t>RF v2 multiclass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500">
                          <a:solidFill>
                            <a:srgbClr val="111827"/>
                          </a:solidFill>
                          <a:latin typeface="Calibri"/>
                        </a:rPr>
                        <a:t>0.66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500">
                          <a:solidFill>
                            <a:srgbClr val="111827"/>
                          </a:solidFill>
                          <a:latin typeface="Calibri"/>
                        </a:rPr>
                        <a:t>100% evadible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 lIns="73152" rIns="73152"/>
                    <a:lstStyle/>
                    <a:p>
                      <a:pPr algn="l"/>
                      <a:r>
                        <a:rPr sz="1500" b="1">
                          <a:solidFill>
                            <a:srgbClr val="111827"/>
                          </a:solidFill>
                          <a:latin typeface="Calibri"/>
                        </a:rPr>
                        <a:t>XGBoost v2 multi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500">
                          <a:solidFill>
                            <a:srgbClr val="111827"/>
                          </a:solidFill>
                          <a:latin typeface="Calibri"/>
                        </a:rPr>
                        <a:t>0.65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500">
                          <a:solidFill>
                            <a:srgbClr val="111827"/>
                          </a:solidFill>
                          <a:latin typeface="Calibri"/>
                        </a:rPr>
                        <a:t>100% evadible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 lIns="73152" rIns="73152"/>
                    <a:lstStyle/>
                    <a:p>
                      <a:pPr algn="l"/>
                      <a:r>
                        <a:rPr sz="1500" b="1">
                          <a:solidFill>
                            <a:srgbClr val="111827"/>
                          </a:solidFill>
                          <a:latin typeface="Calibri"/>
                        </a:rPr>
                        <a:t>Suricata (firmas)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500">
                          <a:solidFill>
                            <a:srgbClr val="111827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500">
                          <a:solidFill>
                            <a:srgbClr val="111827"/>
                          </a:solidFill>
                          <a:latin typeface="Calibri"/>
                        </a:rPr>
                        <a:t>Resiste perturbaciones de features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480560"/>
            <a:ext cx="11155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1E40AF"/>
                </a:solidFill>
                <a:latin typeface="Calibri"/>
              </a:rPr>
              <a:t>Por qué Suricata resiste: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37760"/>
            <a:ext cx="1115568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Calibri"/>
              </a:rPr>
              <a:t>El atacante puede mover los valores de Flow_Duration lo que quiera, pero el payload sigue siendo `' OR 1=1 --` → la regla de SQLi dispara igual. F1-macro 0.99 es el promedio sobre datos limpios; el atacante no juega al promedio.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Laboratorio IDS-ML · UDLA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Calibri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Caveat metodológico del adversarial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1556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1E40AF"/>
                </a:solidFill>
                <a:latin typeface="Calibri"/>
              </a:rPr>
              <a:t>HopSkipJump perturba en feature space (los 47 floats).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Calibri"/>
              </a:rPr>
              <a:t>•  En la realidad, un atacante NO PUEDE elegir Bwd_Packet_Length_Mean arbitrariamente.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Calibri"/>
              </a:rPr>
              <a:t>•  Esos números los calcula CICFlowMeter del tráfico real.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749039"/>
            <a:ext cx="111556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CA8A04"/>
                </a:solidFill>
                <a:latin typeface="Calibri"/>
              </a:rPr>
              <a:t>Para un ataque verdadero (problem-space attack):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48056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Calibri"/>
              </a:rPr>
              <a:t>•  Modificar el tráfico generador (paquetes, timing, payload).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Calibri"/>
              </a:rPr>
              <a:t>•  Después esperar a que CICFlowMeter produzca features que evadan.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Calibri"/>
              </a:rPr>
              <a:t>•  Mucho más caro. Fuera del alcance de este lab.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0"/>
            <a:ext cx="111556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>
                <a:solidFill>
                  <a:srgbClr val="4B5563"/>
                </a:solidFill>
                <a:latin typeface="Calibri"/>
              </a:rPr>
              <a:t>Resultado: fragilidad teórica, no exploit operacional.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Laboratorio IDS-ML · UDLA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Calibri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Por eso ML + reglas en paralelo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155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0">
                <a:solidFill>
                  <a:srgbClr val="4B5563"/>
                </a:solidFill>
                <a:latin typeface="Calibri"/>
              </a:rPr>
              <a:t>El SOC enterprise NO debería depender de un solo detector.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111556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701040"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Caso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Suricata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Veredicto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701040"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1">
                          <a:solidFill>
                            <a:srgbClr val="111827"/>
                          </a:solidFill>
                          <a:latin typeface="Calibri"/>
                        </a:rPr>
                        <a:t>nmap -sS evidente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✓ ET SCAN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✓ Reconnaissance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Alta confianza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1">
                          <a:solidFill>
                            <a:srgbClr val="111827"/>
                          </a:solidFill>
                          <a:latin typeface="Calibri"/>
                        </a:rPr>
                        <a:t>sqlmap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✓ ET WEB SQL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✓ Web Attack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Alta confianza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1">
                          <a:solidFill>
                            <a:srgbClr val="111827"/>
                          </a:solidFill>
                          <a:latin typeface="Calibri"/>
                        </a:rPr>
                        <a:t>Brute Force novedosa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✓ Brute Force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ML cumple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1">
                          <a:solidFill>
                            <a:srgbClr val="111827"/>
                          </a:solidFill>
                          <a:latin typeface="Calibri"/>
                        </a:rPr>
                        <a:t>Adversarial modificado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✓ payload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✗ evade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Reglas cumplen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1">
                          <a:solidFill>
                            <a:srgbClr val="111827"/>
                          </a:solidFill>
                          <a:latin typeface="Calibri"/>
                        </a:rPr>
                        <a:t>Tráfico legítimo atípico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✓ no firma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✗ FP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Suricata corrige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035040"/>
            <a:ext cx="11155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1">
                <a:solidFill>
                  <a:srgbClr val="CA8A04"/>
                </a:solidFill>
                <a:latin typeface="Calibri"/>
              </a:rPr>
              <a:t>Esa es la conversación SOC enterprise que el lab ilustra en vivo.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Laboratorio IDS-ML · UDLA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Calibri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600" b="0">
                <a:solidFill>
                  <a:srgbClr val="C7D2FE"/>
                </a:solidFill>
                <a:latin typeface="Calibri"/>
              </a:rPr>
              <a:t>Sección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5600" b="1">
                <a:solidFill>
                  <a:srgbClr val="FFFFFF"/>
                </a:solidFill>
                <a:latin typeface="Calibri"/>
              </a:rPr>
              <a:t>Para futuros estudiantes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93776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>
                <a:solidFill>
                  <a:srgbClr val="C7D2FE"/>
                </a:solidFill>
                <a:latin typeface="Calibri"/>
              </a:rPr>
              <a:t>Cómo extender el lab. Ideas para tomar la posta.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Cómo extender el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155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Calibri"/>
              </a:rPr>
              <a:t>Los 8 notebooks son la línea base. Cualquier extensión arranca clonando + ejecutando uno desde el principio.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111556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587828"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Idea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Donde toca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Costo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87828"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1">
                          <a:solidFill>
                            <a:srgbClr val="111827"/>
                          </a:solidFill>
                          <a:latin typeface="Calibri"/>
                        </a:rPr>
                        <a:t>SMOTE sobre minorías antes del fit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nb05 + nb06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bajo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1">
                          <a:solidFill>
                            <a:srgbClr val="111827"/>
                          </a:solidFill>
                          <a:latin typeface="Calibri"/>
                        </a:rPr>
                        <a:t>Stacking RF + XGBoost (ensemble vote)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nb05 + ml_api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medio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1">
                          <a:solidFill>
                            <a:srgbClr val="111827"/>
                          </a:solidFill>
                          <a:latin typeface="Calibri"/>
                        </a:rPr>
                        <a:t>Modelo no supervisado (Isolation Forest)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nb05 + ml_api/anomaly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medio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1">
                          <a:solidFill>
                            <a:srgbClr val="111827"/>
                          </a:solidFill>
                          <a:latin typeface="Calibri"/>
                        </a:rPr>
                        <a:t>Problem-space adversarial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nb07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alto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1">
                          <a:solidFill>
                            <a:srgbClr val="111827"/>
                          </a:solidFill>
                          <a:latin typeface="Calibri"/>
                        </a:rPr>
                        <a:t>Calibración threshold per-clase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ml_api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bajo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1">
                          <a:solidFill>
                            <a:srgbClr val="111827"/>
                          </a:solidFill>
                          <a:latin typeface="Calibri"/>
                        </a:rPr>
                        <a:t>GNN sobre flow graphs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nb09 nuevo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alto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Laboratorio IDS-ML · UDLA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Calibri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Demo en vivo (~10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1556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200" b="1">
                <a:solidFill>
                  <a:srgbClr val="1E40AF"/>
                </a:solidFill>
                <a:latin typeface="Calibri"/>
              </a:rPr>
              <a:t>Vamos al laboratorio en funcionamiento: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9456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  <a:latin typeface="Calibri"/>
              </a:rPr>
              <a:t>•  1. Levantar el lab con setup.sh (si no está ya levantado).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  <a:latin typeface="Calibri"/>
              </a:rPr>
              <a:t>•  2. Streamlit: recorrido por las 6 tabs.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  <a:latin typeface="Calibri"/>
              </a:rPr>
              <a:t>•  3. Lanzar una captura desde Tab Ataques.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  <a:latin typeface="Calibri"/>
              </a:rPr>
              <a:t>•  4. Ver predicción + SHAP en Tab Predicción.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  <a:latin typeface="Calibri"/>
              </a:rPr>
              <a:t>•  5. Cambiar a XGBoost y comparar.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  <a:latin typeface="Calibri"/>
              </a:rPr>
              <a:t>•  6. Abrir 3 dashboards SOC en Grafana.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  <a:latin typeface="Calibri"/>
              </a:rPr>
              <a:t>•  7. Mostrar cómo correlacionar ML ↔ Suricata por 5-tupla.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Laboratorio IDS-ML · UDLA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Calibri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Capturas del lab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5669280" cy="3200400"/>
          </a:xfrm>
          <a:prstGeom prst="rect">
            <a:avLst/>
          </a:prstGeom>
          <a:solidFill>
            <a:srgbClr val="F3F4F6"/>
          </a:solidFill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i="1">
                <a:solidFill>
                  <a:srgbClr val="4B5563"/>
                </a:solidFill>
                <a:latin typeface="Consolas"/>
              </a:rPr>
              <a:t>[ Screenshot: 01_streamlit_metricas.png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343400"/>
            <a:ext cx="5669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Calibri"/>
              </a:rPr>
              <a:t>Streamlit · tab Métricas (matriz en vivo)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097280"/>
            <a:ext cx="5669280" cy="3200400"/>
          </a:xfrm>
          <a:prstGeom prst="rect">
            <a:avLst/>
          </a:prstGeom>
          <a:solidFill>
            <a:srgbClr val="F3F4F6"/>
          </a:solidFill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i="1">
                <a:solidFill>
                  <a:srgbClr val="4B5563"/>
                </a:solidFill>
                <a:latin typeface="Consolas"/>
              </a:rPr>
              <a:t>[ Screenshot: 02_streamlit_shap.png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4343400"/>
            <a:ext cx="5669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Calibri"/>
              </a:rPr>
              <a:t>Streamlit · tab Predicción con SHAP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4572000"/>
            <a:ext cx="5669280" cy="1554480"/>
          </a:xfrm>
          <a:prstGeom prst="rect">
            <a:avLst/>
          </a:prstGeom>
          <a:solidFill>
            <a:srgbClr val="F3F4F6"/>
          </a:solidFill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i="1">
                <a:solidFill>
                  <a:srgbClr val="4B5563"/>
                </a:solidFill>
                <a:latin typeface="Consolas"/>
              </a:rPr>
              <a:t>[ Screenshot: 03_grafana_suricata.png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172200"/>
            <a:ext cx="5669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Calibri"/>
              </a:rPr>
              <a:t>Grafana · SOC Suricata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4572000"/>
            <a:ext cx="5669280" cy="1554480"/>
          </a:xfrm>
          <a:prstGeom prst="rect">
            <a:avLst/>
          </a:prstGeom>
          <a:solidFill>
            <a:srgbClr val="F3F4F6"/>
          </a:solidFill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i="1">
                <a:solidFill>
                  <a:srgbClr val="4B5563"/>
                </a:solidFill>
                <a:latin typeface="Consolas"/>
              </a:rPr>
              <a:t>[ Screenshot: 04_grafana_rf.png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6172200"/>
            <a:ext cx="5669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Calibri"/>
              </a:rPr>
              <a:t>Grafana · SOC Random Forest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Laboratorio IDS-ML · UDLA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Calibri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Recursos para profundizar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1556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5577840"/>
              </a:tblGrid>
              <a:tr h="514350"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Recurso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Descripción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14350"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1">
                          <a:solidFill>
                            <a:srgbClr val="111827"/>
                          </a:solidFill>
                          <a:latin typeface="Calibri"/>
                        </a:rPr>
                        <a:t>github.com/exe-keppler/ML-Lab-Capston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Repo del lab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1">
                          <a:solidFill>
                            <a:srgbClr val="111827"/>
                          </a:solidFill>
                          <a:latin typeface="Calibri"/>
                        </a:rPr>
                        <a:t>unb.ca/cic/datasets/ids-2017.html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Dataset CICIDS2017 (UNB)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1">
                          <a:solidFill>
                            <a:srgbClr val="111827"/>
                          </a:solidFill>
                          <a:latin typeface="Calibri"/>
                        </a:rPr>
                        <a:t>github.com/Trusted-AI/ART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IBM Adversarial Robustness Toolbox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1">
                          <a:solidFill>
                            <a:srgbClr val="111827"/>
                          </a:solidFill>
                          <a:latin typeface="Calibri"/>
                        </a:rPr>
                        <a:t>github.com/shap/shap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SHAP — Lundberg &amp; Lee 2017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1">
                          <a:solidFill>
                            <a:srgbClr val="111827"/>
                          </a:solidFill>
                          <a:latin typeface="Calibri"/>
                        </a:rPr>
                        <a:t>rules.emergingthreats.net/open/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Reglas Suricata ET-Open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1">
                          <a:solidFill>
                            <a:srgbClr val="111827"/>
                          </a:solidFill>
                          <a:latin typeface="Calibri"/>
                        </a:rPr>
                        <a:t>docs.streamlit.io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Streamlit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1">
                          <a:solidFill>
                            <a:srgbClr val="111827"/>
                          </a:solidFill>
                          <a:latin typeface="Calibri"/>
                        </a:rPr>
                        <a:t>grafana.com/docs/loki</a:t>
                      </a:r>
                    </a:p>
                  </a:txBody>
                  <a:tcPr/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Grafana Loki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Laboratorio IDS-ML · UDLA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Calibri"/>
              </a:rP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0" b="1">
                <a:solidFill>
                  <a:srgbClr val="FFFFFF"/>
                </a:solidFill>
                <a:latin typeface="Calibri"/>
              </a:rPr>
              <a:t>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6984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000" b="0">
                <a:solidFill>
                  <a:srgbClr val="C7D2FE"/>
                </a:solidFill>
                <a:latin typeface="Calibri"/>
              </a:rPr>
              <a:t>11 contenedores · 8 notebooks · 5 dashboards · setup.sh 47s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onsolas"/>
              </a:rPr>
              <a:t>github.com/exe-keppler/ML-Lab-Capston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Calibri"/>
              </a:rPr>
              <a:t>¡Gracias!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6984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200" b="0">
                <a:solidFill>
                  <a:srgbClr val="C7D2FE"/>
                </a:solidFill>
                <a:latin typeface="Calibri"/>
              </a:rPr>
              <a:t>Maestría en IA Aplicada · UDLA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